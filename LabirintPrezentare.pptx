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3849" r:id="rId6"/>
    <p:sldId id="3846" r:id="rId7"/>
    <p:sldId id="261" r:id="rId8"/>
    <p:sldId id="265" r:id="rId9"/>
    <p:sldId id="3851" r:id="rId10"/>
    <p:sldId id="3848" r:id="rId11"/>
    <p:sldId id="384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4" autoAdjust="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outlineViewPr>
    <p:cViewPr>
      <p:scale>
        <a:sx n="33" d="100"/>
        <a:sy n="33" d="100"/>
      </p:scale>
      <p:origin x="0" y="-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0CE03-6C3A-EB4D-A9B1-7EFD38B58412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D50D-BAA9-464B-B391-243138E078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9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29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919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709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40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109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949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681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229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429764-E305-A48D-5244-9BCD20902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8286859"/>
            <a:chOff x="0" y="1"/>
            <a:chExt cx="12192000" cy="828685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45F65CE3-2411-E8E5-B72E-F5CBEC4DDC55}"/>
                </a:ext>
              </a:extLst>
            </p:cNvPr>
            <p:cNvSpPr/>
            <p:nvPr userDrawn="1"/>
          </p:nvSpPr>
          <p:spPr>
            <a:xfrm>
              <a:off x="4000500" y="1087403"/>
              <a:ext cx="8191500" cy="5770597"/>
            </a:xfrm>
            <a:custGeom>
              <a:avLst/>
              <a:gdLst>
                <a:gd name="connsiteX0" fmla="*/ 4929467 w 8191500"/>
                <a:gd name="connsiteY0" fmla="*/ 0 h 5770597"/>
                <a:gd name="connsiteX1" fmla="*/ 8065066 w 8191500"/>
                <a:gd name="connsiteY1" fmla="*/ 1118513 h 5770597"/>
                <a:gd name="connsiteX2" fmla="*/ 8191500 w 8191500"/>
                <a:gd name="connsiteY2" fmla="*/ 1227339 h 5770597"/>
                <a:gd name="connsiteX3" fmla="*/ 8191500 w 8191500"/>
                <a:gd name="connsiteY3" fmla="*/ 5770597 h 5770597"/>
                <a:gd name="connsiteX4" fmla="*/ 79523 w 8191500"/>
                <a:gd name="connsiteY4" fmla="*/ 5770597 h 5770597"/>
                <a:gd name="connsiteX5" fmla="*/ 56799 w 8191500"/>
                <a:gd name="connsiteY5" fmla="*/ 5644158 h 5770597"/>
                <a:gd name="connsiteX6" fmla="*/ 0 w 8191500"/>
                <a:gd name="connsiteY6" fmla="*/ 4898209 h 5770597"/>
                <a:gd name="connsiteX7" fmla="*/ 4929467 w 8191500"/>
                <a:gd name="connsiteY7" fmla="*/ 0 h 5770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91500" h="5770597">
                  <a:moveTo>
                    <a:pt x="4929467" y="0"/>
                  </a:moveTo>
                  <a:cubicBezTo>
                    <a:pt x="6120547" y="0"/>
                    <a:pt x="7212963" y="419755"/>
                    <a:pt x="8065066" y="1118513"/>
                  </a:cubicBezTo>
                  <a:lnTo>
                    <a:pt x="8191500" y="1227339"/>
                  </a:lnTo>
                  <a:lnTo>
                    <a:pt x="8191500" y="5770597"/>
                  </a:lnTo>
                  <a:lnTo>
                    <a:pt x="79523" y="5770597"/>
                  </a:lnTo>
                  <a:lnTo>
                    <a:pt x="56799" y="5644158"/>
                  </a:lnTo>
                  <a:cubicBezTo>
                    <a:pt x="19398" y="5400934"/>
                    <a:pt x="0" y="5151822"/>
                    <a:pt x="0" y="4898209"/>
                  </a:cubicBezTo>
                  <a:cubicBezTo>
                    <a:pt x="0" y="2193003"/>
                    <a:pt x="2206998" y="0"/>
                    <a:pt x="4929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B6B51B3-AA6C-9C5E-7032-5AEA05D459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6241" y="183933"/>
              <a:ext cx="0" cy="1597708"/>
            </a:xfrm>
            <a:prstGeom prst="line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4F28561D-5B3C-F08A-F7B5-48E6B74EAEBD}"/>
                </a:ext>
              </a:extLst>
            </p:cNvPr>
            <p:cNvSpPr/>
            <p:nvPr userDrawn="1"/>
          </p:nvSpPr>
          <p:spPr>
            <a:xfrm>
              <a:off x="5292348" y="1"/>
              <a:ext cx="2279742" cy="1267785"/>
            </a:xfrm>
            <a:custGeom>
              <a:avLst/>
              <a:gdLst>
                <a:gd name="connsiteX0" fmla="*/ 0 w 2279742"/>
                <a:gd name="connsiteY0" fmla="*/ 0 h 1267785"/>
                <a:gd name="connsiteX1" fmla="*/ 138700 w 2279742"/>
                <a:gd name="connsiteY1" fmla="*/ 0 h 1267785"/>
                <a:gd name="connsiteX2" fmla="*/ 138700 w 2279742"/>
                <a:gd name="connsiteY2" fmla="*/ 1078193 h 1267785"/>
                <a:gd name="connsiteX3" fmla="*/ 2002733 w 2279742"/>
                <a:gd name="connsiteY3" fmla="*/ 0 h 1267785"/>
                <a:gd name="connsiteX4" fmla="*/ 2279742 w 2279742"/>
                <a:gd name="connsiteY4" fmla="*/ 0 h 1267785"/>
                <a:gd name="connsiteX5" fmla="*/ 104026 w 2279742"/>
                <a:gd name="connsiteY5" fmla="*/ 1258503 h 1267785"/>
                <a:gd name="connsiteX6" fmla="*/ 69351 w 2279742"/>
                <a:gd name="connsiteY6" fmla="*/ 1267785 h 1267785"/>
                <a:gd name="connsiteX7" fmla="*/ 0 w 2279742"/>
                <a:gd name="connsiteY7" fmla="*/ 1198436 h 1267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9742" h="1267785">
                  <a:moveTo>
                    <a:pt x="0" y="0"/>
                  </a:moveTo>
                  <a:lnTo>
                    <a:pt x="138700" y="0"/>
                  </a:lnTo>
                  <a:lnTo>
                    <a:pt x="138700" y="1078193"/>
                  </a:lnTo>
                  <a:lnTo>
                    <a:pt x="2002733" y="0"/>
                  </a:lnTo>
                  <a:lnTo>
                    <a:pt x="2279742" y="0"/>
                  </a:lnTo>
                  <a:lnTo>
                    <a:pt x="104026" y="1258503"/>
                  </a:lnTo>
                  <a:cubicBezTo>
                    <a:pt x="93484" y="1264595"/>
                    <a:pt x="81523" y="1267796"/>
                    <a:pt x="69351" y="1267785"/>
                  </a:cubicBezTo>
                  <a:cubicBezTo>
                    <a:pt x="31049" y="1267785"/>
                    <a:pt x="0" y="1236737"/>
                    <a:pt x="0" y="119843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7BD7FF70-44B7-E753-26CD-E228B56C2517}"/>
                </a:ext>
              </a:extLst>
            </p:cNvPr>
            <p:cNvSpPr/>
            <p:nvPr userDrawn="1"/>
          </p:nvSpPr>
          <p:spPr>
            <a:xfrm>
              <a:off x="10208695" y="1"/>
              <a:ext cx="1135066" cy="477997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F9EE857-93B9-ACF6-2AB4-2A29C4B94776}"/>
                </a:ext>
              </a:extLst>
            </p:cNvPr>
            <p:cNvSpPr/>
            <p:nvPr userDrawn="1"/>
          </p:nvSpPr>
          <p:spPr>
            <a:xfrm>
              <a:off x="1569044" y="514898"/>
              <a:ext cx="2393351" cy="232842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9">
              <a:extLst>
                <a:ext uri="{FF2B5EF4-FFF2-40B4-BE49-F238E27FC236}">
                  <a16:creationId xmlns:a16="http://schemas.microsoft.com/office/drawing/2014/main" id="{75030D84-5EEB-A095-3D43-0ED22BDB8406}"/>
                </a:ext>
              </a:extLst>
            </p:cNvPr>
            <p:cNvSpPr/>
            <p:nvPr userDrawn="1"/>
          </p:nvSpPr>
          <p:spPr>
            <a:xfrm flipH="1">
              <a:off x="0" y="2949740"/>
              <a:ext cx="1186451" cy="1771650"/>
            </a:xfrm>
            <a:custGeom>
              <a:avLst/>
              <a:gdLst>
                <a:gd name="connsiteX0" fmla="*/ 61913 w 1186451"/>
                <a:gd name="connsiteY0" fmla="*/ 0 h 1771650"/>
                <a:gd name="connsiteX1" fmla="*/ 1186451 w 1186451"/>
                <a:gd name="connsiteY1" fmla="*/ 0 h 1771650"/>
                <a:gd name="connsiteX2" fmla="*/ 1186451 w 1186451"/>
                <a:gd name="connsiteY2" fmla="*/ 123825 h 1771650"/>
                <a:gd name="connsiteX3" fmla="*/ 123825 w 1186451"/>
                <a:gd name="connsiteY3" fmla="*/ 123825 h 1771650"/>
                <a:gd name="connsiteX4" fmla="*/ 123825 w 1186451"/>
                <a:gd name="connsiteY4" fmla="*/ 1647825 h 1771650"/>
                <a:gd name="connsiteX5" fmla="*/ 1186451 w 1186451"/>
                <a:gd name="connsiteY5" fmla="*/ 1647825 h 1771650"/>
                <a:gd name="connsiteX6" fmla="*/ 1186451 w 1186451"/>
                <a:gd name="connsiteY6" fmla="*/ 1771650 h 1771650"/>
                <a:gd name="connsiteX7" fmla="*/ 61913 w 1186451"/>
                <a:gd name="connsiteY7" fmla="*/ 1771650 h 1771650"/>
                <a:gd name="connsiteX8" fmla="*/ 0 w 1186451"/>
                <a:gd name="connsiteY8" fmla="*/ 1709738 h 1771650"/>
                <a:gd name="connsiteX9" fmla="*/ 0 w 1186451"/>
                <a:gd name="connsiteY9" fmla="*/ 61913 h 1771650"/>
                <a:gd name="connsiteX10" fmla="*/ 61913 w 1186451"/>
                <a:gd name="connsiteY10" fmla="*/ 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6451" h="1771650">
                  <a:moveTo>
                    <a:pt x="61913" y="0"/>
                  </a:moveTo>
                  <a:lnTo>
                    <a:pt x="1186451" y="0"/>
                  </a:lnTo>
                  <a:lnTo>
                    <a:pt x="1186451" y="123825"/>
                  </a:lnTo>
                  <a:lnTo>
                    <a:pt x="123825" y="123825"/>
                  </a:lnTo>
                  <a:lnTo>
                    <a:pt x="123825" y="1647825"/>
                  </a:lnTo>
                  <a:lnTo>
                    <a:pt x="1186451" y="1647825"/>
                  </a:lnTo>
                  <a:lnTo>
                    <a:pt x="1186451" y="1771650"/>
                  </a:lnTo>
                  <a:lnTo>
                    <a:pt x="61913" y="1771650"/>
                  </a:lnTo>
                  <a:cubicBezTo>
                    <a:pt x="27719" y="1771650"/>
                    <a:pt x="0" y="1743932"/>
                    <a:pt x="0" y="1709738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6E6DE3E-6851-19AD-2E60-22F006238173}"/>
                </a:ext>
              </a:extLst>
            </p:cNvPr>
            <p:cNvSpPr/>
            <p:nvPr userDrawn="1"/>
          </p:nvSpPr>
          <p:spPr>
            <a:xfrm rot="16200000">
              <a:off x="1539683" y="4203427"/>
              <a:ext cx="4083433" cy="4083433"/>
            </a:xfrm>
            <a:prstGeom prst="arc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4474" y="2949739"/>
            <a:ext cx="6261291" cy="2396686"/>
          </a:xfrm>
        </p:spPr>
        <p:txBody>
          <a:bodyPr anchor="b" anchorCtr="0">
            <a:noAutofit/>
          </a:bodyPr>
          <a:lstStyle>
            <a:lvl1pPr algn="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E96D25F-53A2-6217-84B4-7EB874F0B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9189" y="941148"/>
            <a:ext cx="11182430" cy="4797821"/>
            <a:chOff x="489189" y="941148"/>
            <a:chExt cx="11182430" cy="479782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0FA62D-C8AE-52B8-1712-6116756D1A83}"/>
                </a:ext>
              </a:extLst>
            </p:cNvPr>
            <p:cNvSpPr/>
            <p:nvPr userDrawn="1"/>
          </p:nvSpPr>
          <p:spPr>
            <a:xfrm>
              <a:off x="489189" y="1119031"/>
              <a:ext cx="4619938" cy="4619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1D2D6A01-57CF-3C0B-968C-E5A8FD352320}"/>
                </a:ext>
              </a:extLst>
            </p:cNvPr>
            <p:cNvSpPr/>
            <p:nvPr userDrawn="1"/>
          </p:nvSpPr>
          <p:spPr>
            <a:xfrm rot="19809111">
              <a:off x="8683720" y="941148"/>
              <a:ext cx="2987899" cy="2987899"/>
            </a:xfrm>
            <a:prstGeom prst="arc">
              <a:avLst>
                <a:gd name="adj1" fmla="val 15817365"/>
                <a:gd name="adj2" fmla="val 1781380"/>
              </a:avLst>
            </a:prstGeom>
            <a:ln w="127000" cap="rnd">
              <a:solidFill>
                <a:schemeClr val="accent4"/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BEFAA-C349-7DB1-1827-0FA48A430AD8}"/>
                </a:ext>
              </a:extLst>
            </p:cNvPr>
            <p:cNvSpPr/>
            <p:nvPr userDrawn="1"/>
          </p:nvSpPr>
          <p:spPr>
            <a:xfrm>
              <a:off x="910048" y="4780992"/>
              <a:ext cx="546100" cy="54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57" y="1119031"/>
            <a:ext cx="4384736" cy="4619938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1708" y="554942"/>
            <a:ext cx="5552091" cy="5768220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EF93C3C-09E9-6CD0-EF4B-6DE09539EE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011782 w 12192000"/>
              <a:gd name="connsiteY0" fmla="*/ 4817511 h 6858000"/>
              <a:gd name="connsiteX1" fmla="*/ 8937059 w 12192000"/>
              <a:gd name="connsiteY1" fmla="*/ 4972626 h 6858000"/>
              <a:gd name="connsiteX2" fmla="*/ 8588084 w 12192000"/>
              <a:gd name="connsiteY2" fmla="*/ 5489438 h 6858000"/>
              <a:gd name="connsiteX3" fmla="*/ 8565206 w 12192000"/>
              <a:gd name="connsiteY3" fmla="*/ 5514611 h 6858000"/>
              <a:gd name="connsiteX4" fmla="*/ 8569944 w 12192000"/>
              <a:gd name="connsiteY4" fmla="*/ 5520198 h 6858000"/>
              <a:gd name="connsiteX5" fmla="*/ 8878607 w 12192000"/>
              <a:gd name="connsiteY5" fmla="*/ 5644582 h 6858000"/>
              <a:gd name="connsiteX6" fmla="*/ 9315123 w 12192000"/>
              <a:gd name="connsiteY6" fmla="*/ 5219907 h 6858000"/>
              <a:gd name="connsiteX7" fmla="*/ 9048519 w 12192000"/>
              <a:gd name="connsiteY7" fmla="*/ 4828605 h 6858000"/>
              <a:gd name="connsiteX8" fmla="*/ 6096000 w 12192000"/>
              <a:gd name="connsiteY8" fmla="*/ 200625 h 6858000"/>
              <a:gd name="connsiteX9" fmla="*/ 2867625 w 12192000"/>
              <a:gd name="connsiteY9" fmla="*/ 3429000 h 6858000"/>
              <a:gd name="connsiteX10" fmla="*/ 6096000 w 12192000"/>
              <a:gd name="connsiteY10" fmla="*/ 6657375 h 6858000"/>
              <a:gd name="connsiteX11" fmla="*/ 9324375 w 12192000"/>
              <a:gd name="connsiteY11" fmla="*/ 3429000 h 6858000"/>
              <a:gd name="connsiteX12" fmla="*/ 6096000 w 12192000"/>
              <a:gd name="connsiteY12" fmla="*/ 200625 h 6858000"/>
              <a:gd name="connsiteX13" fmla="*/ 0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9011782" y="4817511"/>
                </a:moveTo>
                <a:lnTo>
                  <a:pt x="8937059" y="4972626"/>
                </a:lnTo>
                <a:cubicBezTo>
                  <a:pt x="8837255" y="5156349"/>
                  <a:pt x="8720206" y="5329344"/>
                  <a:pt x="8588084" y="5489438"/>
                </a:cubicBezTo>
                <a:lnTo>
                  <a:pt x="8565206" y="5514611"/>
                </a:lnTo>
                <a:lnTo>
                  <a:pt x="8569944" y="5520198"/>
                </a:lnTo>
                <a:cubicBezTo>
                  <a:pt x="8648938" y="5597049"/>
                  <a:pt x="8758066" y="5644582"/>
                  <a:pt x="8878607" y="5644582"/>
                </a:cubicBezTo>
                <a:cubicBezTo>
                  <a:pt x="9119688" y="5644582"/>
                  <a:pt x="9315123" y="5454449"/>
                  <a:pt x="9315123" y="5219907"/>
                </a:cubicBezTo>
                <a:cubicBezTo>
                  <a:pt x="9315123" y="5044001"/>
                  <a:pt x="9205191" y="4893074"/>
                  <a:pt x="9048519" y="4828605"/>
                </a:cubicBezTo>
                <a:close/>
                <a:moveTo>
                  <a:pt x="6096000" y="200625"/>
                </a:moveTo>
                <a:cubicBezTo>
                  <a:pt x="4313018" y="200625"/>
                  <a:pt x="2867625" y="1646018"/>
                  <a:pt x="2867625" y="3429000"/>
                </a:cubicBezTo>
                <a:cubicBezTo>
                  <a:pt x="2867625" y="5211982"/>
                  <a:pt x="4313018" y="6657375"/>
                  <a:pt x="6096000" y="6657375"/>
                </a:cubicBezTo>
                <a:cubicBezTo>
                  <a:pt x="7878982" y="6657375"/>
                  <a:pt x="9324375" y="5211982"/>
                  <a:pt x="9324375" y="3429000"/>
                </a:cubicBezTo>
                <a:cubicBezTo>
                  <a:pt x="9324375" y="1646018"/>
                  <a:pt x="7878982" y="200625"/>
                  <a:pt x="6096000" y="2006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D5C3C4BD-DFDB-76B4-17CA-7DA4D17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9366740" flipV="1">
            <a:off x="2557952" y="-89828"/>
            <a:ext cx="7173200" cy="7173200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B04B61C-6467-D51D-0AF4-5C7D05F36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68168" y="923544"/>
            <a:ext cx="6455664" cy="5010912"/>
          </a:xfrm>
          <a:prstGeom prst="rect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7A19F4B-D154-3EB2-F86A-9A63283A3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65206" y="4817511"/>
            <a:ext cx="749917" cy="827071"/>
          </a:xfrm>
          <a:custGeom>
            <a:avLst/>
            <a:gdLst>
              <a:gd name="connsiteX0" fmla="*/ 446576 w 749917"/>
              <a:gd name="connsiteY0" fmla="*/ 0 h 827071"/>
              <a:gd name="connsiteX1" fmla="*/ 483313 w 749917"/>
              <a:gd name="connsiteY1" fmla="*/ 11094 h 827071"/>
              <a:gd name="connsiteX2" fmla="*/ 749917 w 749917"/>
              <a:gd name="connsiteY2" fmla="*/ 402396 h 827071"/>
              <a:gd name="connsiteX3" fmla="*/ 313401 w 749917"/>
              <a:gd name="connsiteY3" fmla="*/ 827071 h 827071"/>
              <a:gd name="connsiteX4" fmla="*/ 4738 w 749917"/>
              <a:gd name="connsiteY4" fmla="*/ 702687 h 827071"/>
              <a:gd name="connsiteX5" fmla="*/ 0 w 749917"/>
              <a:gd name="connsiteY5" fmla="*/ 697100 h 827071"/>
              <a:gd name="connsiteX6" fmla="*/ 22878 w 749917"/>
              <a:gd name="connsiteY6" fmla="*/ 671927 h 827071"/>
              <a:gd name="connsiteX7" fmla="*/ 371853 w 749917"/>
              <a:gd name="connsiteY7" fmla="*/ 155115 h 827071"/>
              <a:gd name="connsiteX8" fmla="*/ 446576 w 749917"/>
              <a:gd name="connsiteY8" fmla="*/ 0 h 82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917" h="827071">
                <a:moveTo>
                  <a:pt x="446576" y="0"/>
                </a:moveTo>
                <a:lnTo>
                  <a:pt x="483313" y="11094"/>
                </a:lnTo>
                <a:cubicBezTo>
                  <a:pt x="639985" y="75563"/>
                  <a:pt x="749917" y="226490"/>
                  <a:pt x="749917" y="402396"/>
                </a:cubicBezTo>
                <a:cubicBezTo>
                  <a:pt x="749917" y="636938"/>
                  <a:pt x="554482" y="827071"/>
                  <a:pt x="313401" y="827071"/>
                </a:cubicBezTo>
                <a:cubicBezTo>
                  <a:pt x="192860" y="827071"/>
                  <a:pt x="83732" y="779538"/>
                  <a:pt x="4738" y="702687"/>
                </a:cubicBezTo>
                <a:lnTo>
                  <a:pt x="0" y="697100"/>
                </a:lnTo>
                <a:lnTo>
                  <a:pt x="22878" y="671927"/>
                </a:lnTo>
                <a:cubicBezTo>
                  <a:pt x="155000" y="511833"/>
                  <a:pt x="272049" y="338838"/>
                  <a:pt x="371853" y="155115"/>
                </a:cubicBezTo>
                <a:lnTo>
                  <a:pt x="446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CB8A6E1-44B2-54E1-6460-1C9B27EE7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698912" cy="6858001"/>
            <a:chOff x="0" y="-1"/>
            <a:chExt cx="5698912" cy="6858001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22D7888-22FA-4AA1-9BA4-CC61D6643D47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BB6E464-8999-4773-A1F2-E6CAA990E572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A14BE8-FDD0-4434-9C3E-BFF78C22D9E3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494E364-7EA8-4D92-915D-75D1A3A67C07}"/>
                </a:ext>
              </a:extLst>
            </p:cNvPr>
            <p:cNvSpPr/>
            <p:nvPr userDrawn="1"/>
          </p:nvSpPr>
          <p:spPr>
            <a:xfrm flipH="1">
              <a:off x="4132972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4F9EBE3B-A856-C23C-4698-B764DF4BC7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2118" y="262762"/>
            <a:ext cx="5507421" cy="3649718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C9CB37-5251-201C-ACE3-FD69A00C77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7393" y="847600"/>
            <a:ext cx="4619625" cy="4617720"/>
          </a:xfrm>
          <a:prstGeom prst="ellipse">
            <a:avLst/>
          </a:prstGeom>
          <a:noFill/>
        </p:spPr>
        <p:txBody>
          <a:bodyPr tIns="54864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BF08299-9068-827D-783B-BFF5B95E957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22118" y="4058263"/>
            <a:ext cx="5507421" cy="214148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1pPr>
            <a:lvl2pPr marL="228600">
              <a:lnSpc>
                <a:spcPct val="90000"/>
              </a:lnSpc>
              <a:buClr>
                <a:schemeClr val="accent2"/>
              </a:buClr>
              <a:defRPr sz="2000"/>
            </a:lvl2pPr>
            <a:lvl3pPr marL="457200">
              <a:lnSpc>
                <a:spcPct val="90000"/>
              </a:lnSpc>
              <a:buClr>
                <a:schemeClr val="accent2"/>
              </a:buClr>
              <a:defRPr sz="1800"/>
            </a:lvl3pPr>
            <a:lvl4pPr marL="685800">
              <a:lnSpc>
                <a:spcPct val="90000"/>
              </a:lnSpc>
              <a:buClr>
                <a:schemeClr val="accent2"/>
              </a:buClr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468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4803"/>
            <a:ext cx="10515600" cy="1472974"/>
          </a:xfrm>
        </p:spPr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3FB7D8D-37C3-E089-EC02-FB49A13CBE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838099"/>
            <a:ext cx="8012113" cy="428488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800"/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600"/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400"/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14">
            <a:extLst>
              <a:ext uri="{FF2B5EF4-FFF2-40B4-BE49-F238E27FC236}">
                <a16:creationId xmlns:a16="http://schemas.microsoft.com/office/drawing/2014/main" id="{438B6FA2-AF11-618E-2B1A-38BF083DF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381048" y="5144407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13">
            <a:extLst>
              <a:ext uri="{FF2B5EF4-FFF2-40B4-BE49-F238E27FC236}">
                <a16:creationId xmlns:a16="http://schemas.microsoft.com/office/drawing/2014/main" id="{A269A8D8-A4AE-CEFF-E928-7DB1CFB3E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9">
            <a:extLst>
              <a:ext uri="{FF2B5EF4-FFF2-40B4-BE49-F238E27FC236}">
                <a16:creationId xmlns:a16="http://schemas.microsoft.com/office/drawing/2014/main" id="{15418837-E689-97BE-9FAD-FEDBD599E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109434" y="3527042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7DF76A42-387B-8D66-1214-D40462070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40621" y="704193"/>
            <a:ext cx="2296455" cy="22964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ACE818-46EF-547E-9315-A84948303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7652" y="0"/>
            <a:ext cx="8798419" cy="6816262"/>
            <a:chOff x="577652" y="-28502"/>
            <a:chExt cx="8798419" cy="681626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9644D21-8793-9A96-F305-5D20EE342B26}"/>
                </a:ext>
              </a:extLst>
            </p:cNvPr>
            <p:cNvSpPr/>
            <p:nvPr userDrawn="1"/>
          </p:nvSpPr>
          <p:spPr>
            <a:xfrm>
              <a:off x="2815929" y="148929"/>
              <a:ext cx="6560142" cy="65601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DF8D7AEF-C845-09F0-F31C-20B32BBA1EBA}"/>
                </a:ext>
              </a:extLst>
            </p:cNvPr>
            <p:cNvSpPr/>
            <p:nvPr userDrawn="1"/>
          </p:nvSpPr>
          <p:spPr>
            <a:xfrm rot="9222429" flipV="1">
              <a:off x="2494119" y="-28502"/>
              <a:ext cx="6816262" cy="6816262"/>
            </a:xfrm>
            <a:prstGeom prst="arc">
              <a:avLst>
                <a:gd name="adj1" fmla="val 16200000"/>
                <a:gd name="adj2" fmla="val 20093138"/>
              </a:avLst>
            </a:prstGeom>
            <a:ln w="127000" cap="rnd">
              <a:solidFill>
                <a:schemeClr val="accent4">
                  <a:alpha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F9D44CB-887B-C74D-3E96-5607E84DAEFF}"/>
                </a:ext>
              </a:extLst>
            </p:cNvPr>
            <p:cNvSpPr/>
            <p:nvPr userDrawn="1"/>
          </p:nvSpPr>
          <p:spPr>
            <a:xfrm>
              <a:off x="577652" y="1085116"/>
              <a:ext cx="759403" cy="7388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87D193F4-2337-0048-1BE7-C9A815419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936118" y="5508455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EE4510-BCBA-C39A-BEF1-A391A3304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94655" y="5270490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</p:spPr>
        <p:txBody>
          <a:bodyPr anchor="ctr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15929" y="4412973"/>
            <a:ext cx="6560142" cy="1935571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4915163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FB01ADF-164A-96FB-0129-C2A0F0ED0A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47896" y="1816916"/>
            <a:ext cx="5212080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63F0DD-A38B-64B8-7412-087B487E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2068464" cy="6857998"/>
            <a:chOff x="123536" y="2"/>
            <a:chExt cx="12068464" cy="6857998"/>
          </a:xfrm>
        </p:grpSpPr>
        <p:sp>
          <p:nvSpPr>
            <p:cNvPr id="12" name="Freeform: Shape 9">
              <a:extLst>
                <a:ext uri="{FF2B5EF4-FFF2-40B4-BE49-F238E27FC236}">
                  <a16:creationId xmlns:a16="http://schemas.microsoft.com/office/drawing/2014/main" id="{44CE2FB7-A856-E3C3-9798-73AAFB7901B8}"/>
                </a:ext>
              </a:extLst>
            </p:cNvPr>
            <p:cNvSpPr/>
            <p:nvPr userDrawn="1"/>
          </p:nvSpPr>
          <p:spPr>
            <a:xfrm>
              <a:off x="5671336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0">
              <a:extLst>
                <a:ext uri="{FF2B5EF4-FFF2-40B4-BE49-F238E27FC236}">
                  <a16:creationId xmlns:a16="http://schemas.microsoft.com/office/drawing/2014/main" id="{47ED62E5-894A-A8F9-A6DC-4A5C147CDE78}"/>
                </a:ext>
              </a:extLst>
            </p:cNvPr>
            <p:cNvSpPr/>
            <p:nvPr userDrawn="1"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1">
              <a:extLst>
                <a:ext uri="{FF2B5EF4-FFF2-40B4-BE49-F238E27FC236}">
                  <a16:creationId xmlns:a16="http://schemas.microsoft.com/office/drawing/2014/main" id="{5C181CD4-C69B-2826-AF23-060D677248A9}"/>
                </a:ext>
              </a:extLst>
            </p:cNvPr>
            <p:cNvSpPr/>
            <p:nvPr userDrawn="1"/>
          </p:nvSpPr>
          <p:spPr>
            <a:xfrm rot="5400000">
              <a:off x="11328915" y="3872201"/>
              <a:ext cx="1214656" cy="511514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0538251-2B75-FA20-0F29-FB58583E612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3108958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1pPr>
            <a:lvl2pPr marL="2857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65151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92583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6C49DD-8C29-93EA-04F4-22F84080DF5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61820" y="1816916"/>
            <a:ext cx="669815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1E75594D-82D2-74F6-56EC-46FCD28C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94966" y="0"/>
            <a:ext cx="1214656" cy="511514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13">
            <a:extLst>
              <a:ext uri="{FF2B5EF4-FFF2-40B4-BE49-F238E27FC236}">
                <a16:creationId xmlns:a16="http://schemas.microsoft.com/office/drawing/2014/main" id="{FF4E0F5B-0892-2688-EFD3-284369DA5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97530" y="5590215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D8715A-3067-732D-C410-868C7CCCF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982378" y="551212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07BCF9-2F5B-200E-2E6C-E177DB56E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458"/>
            <a:ext cx="7083733" cy="6182202"/>
            <a:chOff x="0" y="7460"/>
            <a:chExt cx="7083733" cy="6182202"/>
          </a:xfrm>
        </p:grpSpPr>
        <p:sp>
          <p:nvSpPr>
            <p:cNvPr id="9" name="Freeform: Shape 14">
              <a:extLst>
                <a:ext uri="{FF2B5EF4-FFF2-40B4-BE49-F238E27FC236}">
                  <a16:creationId xmlns:a16="http://schemas.microsoft.com/office/drawing/2014/main" id="{7A624B2B-50FD-9351-987F-2E5A5472CAB6}"/>
                </a:ext>
              </a:extLst>
            </p:cNvPr>
            <p:cNvSpPr/>
            <p:nvPr userDrawn="1"/>
          </p:nvSpPr>
          <p:spPr>
            <a:xfrm rot="16200000">
              <a:off x="-388933" y="4841194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51E534EE-E0F1-2BD9-9A82-7656B90A2D9D}"/>
                </a:ext>
              </a:extLst>
            </p:cNvPr>
            <p:cNvSpPr/>
            <p:nvPr userDrawn="1"/>
          </p:nvSpPr>
          <p:spPr>
            <a:xfrm>
              <a:off x="6234405" y="7460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</p:spPr>
        <p:txBody>
          <a:bodyPr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657316"/>
            <a:ext cx="5257800" cy="336985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3114" y="845068"/>
            <a:ext cx="5193792" cy="5193792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21BD3DB-6F51-C1AE-FF0E-D0BDCB55F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1220225" cy="6857998"/>
            <a:chOff x="123536" y="2"/>
            <a:chExt cx="11220225" cy="6857998"/>
          </a:xfrm>
        </p:grpSpPr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59903C17-0733-BE0C-7392-283FEC2E98B0}"/>
                </a:ext>
              </a:extLst>
            </p:cNvPr>
            <p:cNvSpPr/>
            <p:nvPr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">
              <a:extLst>
                <a:ext uri="{FF2B5EF4-FFF2-40B4-BE49-F238E27FC236}">
                  <a16:creationId xmlns:a16="http://schemas.microsoft.com/office/drawing/2014/main" id="{898A3450-9C87-13ED-79CC-F4F65D14FF72}"/>
                </a:ext>
              </a:extLst>
            </p:cNvPr>
            <p:cNvSpPr/>
            <p:nvPr userDrawn="1"/>
          </p:nvSpPr>
          <p:spPr>
            <a:xfrm>
              <a:off x="10494433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2882462" cy="429767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038599" y="1825625"/>
            <a:ext cx="7315199" cy="42976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FE4C84-13A1-72EA-6541-7C8FDDEA7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1563" y="5800859"/>
            <a:ext cx="692016" cy="69201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0468883-4E51-D3BD-E1C6-601ED9B6E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438747" flipV="1">
            <a:off x="7967025" y="2530995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11AEF3F-9A86-45CE-4817-E3E6863DC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764789" y="390570"/>
            <a:ext cx="437721" cy="797078"/>
          </a:xfrm>
          <a:custGeom>
            <a:avLst/>
            <a:gdLst>
              <a:gd name="connsiteX0" fmla="*/ 28069 w 437721"/>
              <a:gd name="connsiteY0" fmla="*/ 0 h 797078"/>
              <a:gd name="connsiteX1" fmla="*/ 437721 w 437721"/>
              <a:gd name="connsiteY1" fmla="*/ 398539 h 797078"/>
              <a:gd name="connsiteX2" fmla="*/ 28069 w 437721"/>
              <a:gd name="connsiteY2" fmla="*/ 797078 h 797078"/>
              <a:gd name="connsiteX3" fmla="*/ 0 w 437721"/>
              <a:gd name="connsiteY3" fmla="*/ 794325 h 797078"/>
              <a:gd name="connsiteX4" fmla="*/ 0 w 437721"/>
              <a:gd name="connsiteY4" fmla="*/ 2753 h 797078"/>
              <a:gd name="connsiteX5" fmla="*/ 28069 w 437721"/>
              <a:gd name="connsiteY5" fmla="*/ 0 h 797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721" h="797078">
                <a:moveTo>
                  <a:pt x="28069" y="0"/>
                </a:moveTo>
                <a:cubicBezTo>
                  <a:pt x="254314" y="0"/>
                  <a:pt x="437721" y="178432"/>
                  <a:pt x="437721" y="398539"/>
                </a:cubicBezTo>
                <a:cubicBezTo>
                  <a:pt x="437721" y="618646"/>
                  <a:pt x="254314" y="797078"/>
                  <a:pt x="28069" y="797078"/>
                </a:cubicBezTo>
                <a:lnTo>
                  <a:pt x="0" y="794325"/>
                </a:lnTo>
                <a:lnTo>
                  <a:pt x="0" y="2753"/>
                </a:lnTo>
                <a:lnTo>
                  <a:pt x="280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5A792C8-BB21-CDAF-668C-C1EFF45540C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38200" y="1825625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>
              <a:spcBef>
                <a:spcPts val="500"/>
              </a:spcBef>
              <a:spcAft>
                <a:spcPts val="800"/>
              </a:spcAft>
              <a:buClr>
                <a:schemeClr val="accent2"/>
              </a:buClr>
              <a:defRPr sz="1800"/>
            </a:lvl2pPr>
            <a:lvl3pPr>
              <a:spcBef>
                <a:spcPts val="1000"/>
              </a:spcBef>
              <a:buClr>
                <a:schemeClr val="accent2"/>
              </a:buClr>
              <a:defRPr sz="1800"/>
            </a:lvl3pPr>
            <a:lvl4pPr>
              <a:spcBef>
                <a:spcPts val="1000"/>
              </a:spcBef>
              <a:buClr>
                <a:schemeClr val="accent2"/>
              </a:buClr>
              <a:defRPr sz="1800"/>
            </a:lvl4pPr>
            <a:lvl5pPr>
              <a:spcBef>
                <a:spcPts val="1000"/>
              </a:spcBef>
              <a:buClr>
                <a:schemeClr val="accent2"/>
              </a:buCl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latin typeface="Avenir Next LT Pro" panose="020B0504020202020204" pitchFamily="34" charset="77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03029" y="1825625"/>
            <a:ext cx="3450771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1825625"/>
            <a:ext cx="10515600" cy="4297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7B7232D-F1A6-B6C3-3BBF-E834CC7CD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930138" cy="6858001"/>
            <a:chOff x="0" y="-1"/>
            <a:chExt cx="5930138" cy="685800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D306340-6BFD-FE3D-535B-B59C1C44EDDA}"/>
                </a:ext>
              </a:extLst>
            </p:cNvPr>
            <p:cNvSpPr/>
            <p:nvPr userDrawn="1"/>
          </p:nvSpPr>
          <p:spPr>
            <a:xfrm>
              <a:off x="383877" y="778462"/>
              <a:ext cx="5315035" cy="53150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338E6C4B-ABF3-8B7E-8DCF-A93F69C712B1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6F90F99F-B12A-E8F9-5A86-D76B201D6308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BFA99EFE-81BC-95EA-FA61-B7199AD98A74}"/>
                </a:ext>
              </a:extLst>
            </p:cNvPr>
            <p:cNvSpPr/>
            <p:nvPr userDrawn="1"/>
          </p:nvSpPr>
          <p:spPr>
            <a:xfrm flipH="1">
              <a:off x="0" y="2936831"/>
              <a:ext cx="159741" cy="552996"/>
            </a:xfrm>
            <a:custGeom>
              <a:avLst/>
              <a:gdLst>
                <a:gd name="connsiteX0" fmla="*/ 159741 w 159741"/>
                <a:gd name="connsiteY0" fmla="*/ 0 h 552996"/>
                <a:gd name="connsiteX1" fmla="*/ 159741 w 159741"/>
                <a:gd name="connsiteY1" fmla="*/ 552996 h 552996"/>
                <a:gd name="connsiteX2" fmla="*/ 141849 w 159741"/>
                <a:gd name="connsiteY2" fmla="*/ 543285 h 552996"/>
                <a:gd name="connsiteX3" fmla="*/ 0 w 159741"/>
                <a:gd name="connsiteY3" fmla="*/ 276498 h 552996"/>
                <a:gd name="connsiteX4" fmla="*/ 141849 w 159741"/>
                <a:gd name="connsiteY4" fmla="*/ 9711 h 55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1" h="552996">
                  <a:moveTo>
                    <a:pt x="159741" y="0"/>
                  </a:moveTo>
                  <a:lnTo>
                    <a:pt x="159741" y="552996"/>
                  </a:lnTo>
                  <a:lnTo>
                    <a:pt x="141849" y="543285"/>
                  </a:lnTo>
                  <a:cubicBezTo>
                    <a:pt x="56268" y="485467"/>
                    <a:pt x="0" y="387554"/>
                    <a:pt x="0" y="276498"/>
                  </a:cubicBezTo>
                  <a:cubicBezTo>
                    <a:pt x="0" y="165443"/>
                    <a:pt x="56268" y="67529"/>
                    <a:pt x="141849" y="9711"/>
                  </a:cubicBezTo>
                  <a:close/>
                </a:path>
              </a:pathLst>
            </a:custGeom>
            <a:solidFill>
              <a:schemeClr val="accent4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7">
              <a:extLst>
                <a:ext uri="{FF2B5EF4-FFF2-40B4-BE49-F238E27FC236}">
                  <a16:creationId xmlns:a16="http://schemas.microsoft.com/office/drawing/2014/main" id="{DD9FC028-D877-28FE-C646-DBD85D932641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AA0AFFE9-F0C2-BDA0-BF87-9977706AB6A8}"/>
                </a:ext>
              </a:extLst>
            </p:cNvPr>
            <p:cNvSpPr/>
            <p:nvPr userDrawn="1"/>
          </p:nvSpPr>
          <p:spPr>
            <a:xfrm flipH="1">
              <a:off x="4364198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5455" y="755171"/>
            <a:ext cx="4619937" cy="5315035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67" r:id="rId4"/>
    <p:sldLayoutId id="2147483650" r:id="rId5"/>
    <p:sldLayoutId id="2147483649" r:id="rId6"/>
    <p:sldLayoutId id="2147483662" r:id="rId7"/>
    <p:sldLayoutId id="2147483663" r:id="rId8"/>
    <p:sldLayoutId id="2147483652" r:id="rId9"/>
    <p:sldLayoutId id="2147483666" r:id="rId10"/>
    <p:sldLayoutId id="2147483664" r:id="rId11"/>
    <p:sldLayoutId id="2147483665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1376126"/>
            <a:ext cx="5081180" cy="1611518"/>
          </a:xfrm>
          <a:noFill/>
        </p:spPr>
        <p:txBody>
          <a:bodyPr anchor="b">
            <a:noAutofit/>
          </a:bodyPr>
          <a:lstStyle/>
          <a:p>
            <a:r>
              <a:rPr lang="en-US" sz="6600" dirty="0" err="1"/>
              <a:t>Lapusan</a:t>
            </a:r>
            <a:r>
              <a:rPr lang="en-US" sz="6600" dirty="0"/>
              <a:t> Vlad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79F525-F2B3-F687-96E5-FB6F62C11199}"/>
              </a:ext>
            </a:extLst>
          </p:cNvPr>
          <p:cNvSpPr txBox="1"/>
          <p:nvPr/>
        </p:nvSpPr>
        <p:spPr>
          <a:xfrm>
            <a:off x="5971851" y="3198167"/>
            <a:ext cx="54769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Generator </a:t>
            </a:r>
            <a:r>
              <a:rPr lang="en-US" sz="2400" b="1" dirty="0" err="1">
                <a:solidFill>
                  <a:schemeClr val="bg1"/>
                </a:solidFill>
              </a:rPr>
              <a:t>si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Rezolvator</a:t>
            </a:r>
            <a:r>
              <a:rPr lang="en-US" sz="2400" b="1" dirty="0">
                <a:solidFill>
                  <a:schemeClr val="bg1"/>
                </a:solidFill>
              </a:rPr>
              <a:t> de </a:t>
            </a:r>
            <a:r>
              <a:rPr lang="en-US" sz="2400" b="1" dirty="0" err="1">
                <a:solidFill>
                  <a:schemeClr val="bg1"/>
                </a:solidFill>
              </a:rPr>
              <a:t>Labirinturi</a:t>
            </a:r>
            <a:endParaRPr lang="en-US" sz="2400" b="1" dirty="0">
              <a:solidFill>
                <a:schemeClr val="bg1"/>
              </a:solidFill>
            </a:endParaRP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 err="1">
                <a:solidFill>
                  <a:schemeClr val="bg1"/>
                </a:solidFill>
              </a:rPr>
              <a:t>Librariile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folosite</a:t>
            </a:r>
            <a:r>
              <a:rPr lang="en-US" sz="2400" b="1" dirty="0">
                <a:solidFill>
                  <a:schemeClr val="bg1"/>
                </a:solidFill>
              </a:rPr>
              <a:t>: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</a:rPr>
              <a:t>Tkinter</a:t>
            </a:r>
            <a:r>
              <a:rPr lang="en-US" sz="2400" b="1" dirty="0">
                <a:solidFill>
                  <a:schemeClr val="bg1"/>
                </a:solidFill>
              </a:rPr>
              <a:t> (</a:t>
            </a:r>
            <a:r>
              <a:rPr lang="en-US" sz="2400" b="1" dirty="0" err="1">
                <a:solidFill>
                  <a:schemeClr val="bg1"/>
                </a:solidFill>
              </a:rPr>
              <a:t>pentru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interfata</a:t>
            </a:r>
            <a:r>
              <a:rPr lang="en-US" sz="2400" b="1" dirty="0">
                <a:solidFill>
                  <a:schemeClr val="bg1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Random (</a:t>
            </a:r>
            <a:r>
              <a:rPr lang="en-US" sz="2400" b="1" dirty="0" err="1">
                <a:solidFill>
                  <a:schemeClr val="bg1"/>
                </a:solidFill>
              </a:rPr>
              <a:t>pentru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generare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aleatorie</a:t>
            </a:r>
            <a:r>
              <a:rPr lang="en-US" sz="2400" b="1" dirty="0">
                <a:solidFill>
                  <a:schemeClr val="bg1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Deque (</a:t>
            </a:r>
            <a:r>
              <a:rPr lang="en-US" sz="2400" b="1" dirty="0" err="1">
                <a:solidFill>
                  <a:schemeClr val="bg1"/>
                </a:solidFill>
              </a:rPr>
              <a:t>pentru</a:t>
            </a:r>
            <a:r>
              <a:rPr lang="en-US" sz="2400" b="1" dirty="0">
                <a:solidFill>
                  <a:schemeClr val="bg1"/>
                </a:solidFill>
              </a:rPr>
              <a:t> BFS)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 err="1">
                <a:solidFill>
                  <a:schemeClr val="bg1"/>
                </a:solidFill>
              </a:rPr>
              <a:t>Versiunea</a:t>
            </a:r>
            <a:r>
              <a:rPr lang="en-US" sz="2400" b="1" dirty="0">
                <a:solidFill>
                  <a:schemeClr val="bg1"/>
                </a:solidFill>
              </a:rPr>
              <a:t> de Python: 3.7.0</a:t>
            </a:r>
          </a:p>
        </p:txBody>
      </p:sp>
    </p:spTree>
    <p:extLst>
      <p:ext uri="{BB962C8B-B14F-4D97-AF65-F5344CB8AC3E}">
        <p14:creationId xmlns:p14="http://schemas.microsoft.com/office/powerpoint/2010/main" val="517426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 flipV="1">
            <a:off x="114874" y="3185892"/>
            <a:ext cx="84301" cy="109570"/>
          </a:xfrm>
          <a:noFill/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075" y="154892"/>
            <a:ext cx="5029199" cy="2874058"/>
          </a:xfrm>
          <a:noFill/>
        </p:spPr>
        <p:txBody>
          <a:bodyPr>
            <a:normAutofit/>
          </a:bodyPr>
          <a:lstStyle/>
          <a:p>
            <a:r>
              <a:rPr lang="en-US" dirty="0"/>
              <a:t>Ce face?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Creeaza un </a:t>
            </a:r>
            <a:r>
              <a:rPr lang="en-US" dirty="0" err="1"/>
              <a:t>labirint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o </a:t>
            </a:r>
            <a:r>
              <a:rPr lang="en-US" dirty="0" err="1"/>
              <a:t>matrice</a:t>
            </a:r>
            <a:r>
              <a:rPr lang="en-US" dirty="0"/>
              <a:t> 2D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peretele</a:t>
            </a:r>
            <a:r>
              <a:rPr lang="en-US" dirty="0"/>
              <a:t>, 0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drumul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Porneste</a:t>
            </a:r>
            <a:r>
              <a:rPr lang="en-US" dirty="0"/>
              <a:t> </a:t>
            </a:r>
            <a:r>
              <a:rPr lang="en-US" dirty="0" err="1"/>
              <a:t>dintr</a:t>
            </a:r>
            <a:r>
              <a:rPr lang="en-US" dirty="0"/>
              <a:t>-un </a:t>
            </a:r>
            <a:r>
              <a:rPr lang="en-US" dirty="0" err="1"/>
              <a:t>punct</a:t>
            </a:r>
            <a:r>
              <a:rPr lang="en-US" dirty="0"/>
              <a:t> fix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construieste</a:t>
            </a:r>
            <a:r>
              <a:rPr lang="en-US" dirty="0"/>
              <a:t> </a:t>
            </a:r>
            <a:r>
              <a:rPr lang="en-US" dirty="0" err="1"/>
              <a:t>traseele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3EC14E-B479-EE72-B4C2-2F5E08CEC9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C3C957-0003-BE62-34C8-D2A9CEA907CE}"/>
              </a:ext>
            </a:extLst>
          </p:cNvPr>
          <p:cNvSpPr txBox="1"/>
          <p:nvPr/>
        </p:nvSpPr>
        <p:spPr>
          <a:xfrm>
            <a:off x="6444087" y="3028950"/>
            <a:ext cx="52006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Cum </a:t>
            </a:r>
            <a:r>
              <a:rPr lang="en-US" dirty="0" err="1"/>
              <a:t>functioneaza</a:t>
            </a:r>
            <a:r>
              <a:rPr lang="en-US" dirty="0"/>
              <a:t>?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Algoritmul </a:t>
            </a:r>
            <a:r>
              <a:rPr lang="en-US" dirty="0" err="1"/>
              <a:t>porneste</a:t>
            </a:r>
            <a:r>
              <a:rPr lang="en-US" dirty="0"/>
              <a:t> din (1,1)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Alege</a:t>
            </a:r>
            <a:r>
              <a:rPr lang="en-US" dirty="0"/>
              <a:t> o </a:t>
            </a:r>
            <a:r>
              <a:rPr lang="en-US" dirty="0" err="1"/>
              <a:t>directie</a:t>
            </a:r>
            <a:r>
              <a:rPr lang="en-US" dirty="0"/>
              <a:t> </a:t>
            </a:r>
            <a:r>
              <a:rPr lang="en-US" dirty="0" err="1"/>
              <a:t>aleatorie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continua recursive </a:t>
            </a:r>
            <a:r>
              <a:rPr lang="en-US" dirty="0" err="1"/>
              <a:t>pana</a:t>
            </a:r>
            <a:r>
              <a:rPr lang="en-US" dirty="0"/>
              <a:t> </a:t>
            </a:r>
            <a:r>
              <a:rPr lang="en-US" dirty="0" err="1"/>
              <a:t>acopera</a:t>
            </a:r>
            <a:r>
              <a:rPr lang="en-US" dirty="0"/>
              <a:t> tot spatial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pana</a:t>
            </a:r>
            <a:r>
              <a:rPr lang="en-US" dirty="0"/>
              <a:t> </a:t>
            </a:r>
            <a:r>
              <a:rPr lang="en-US" dirty="0" err="1"/>
              <a:t>ajunge</a:t>
            </a:r>
            <a:r>
              <a:rPr lang="en-US" dirty="0"/>
              <a:t> la final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724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513E45-4F5C-9394-1D42-7FB6C017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2118" y="476250"/>
            <a:ext cx="5791678" cy="723900"/>
          </a:xfrm>
        </p:spPr>
        <p:txBody>
          <a:bodyPr anchor="b">
            <a:normAutofit fontScale="90000"/>
          </a:bodyPr>
          <a:lstStyle/>
          <a:p>
            <a:r>
              <a:rPr lang="en-US" sz="4800" dirty="0" err="1"/>
              <a:t>Alegerea</a:t>
            </a:r>
            <a:r>
              <a:rPr lang="en-US" sz="4800" dirty="0"/>
              <a:t> </a:t>
            </a:r>
            <a:r>
              <a:rPr lang="en-US" sz="4800" dirty="0" err="1"/>
              <a:t>Obiectivului</a:t>
            </a:r>
            <a:endParaRPr lang="en-US" sz="4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C37F52-5C08-7C02-C9CA-E2AD930A9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2118" y="1381738"/>
            <a:ext cx="5507421" cy="222823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Selecteaza</a:t>
            </a:r>
            <a:r>
              <a:rPr lang="en-US" dirty="0"/>
              <a:t> un </a:t>
            </a:r>
            <a:r>
              <a:rPr lang="en-US" dirty="0" err="1"/>
              <a:t>punct</a:t>
            </a:r>
            <a:r>
              <a:rPr lang="en-US" dirty="0"/>
              <a:t> final </a:t>
            </a:r>
            <a:r>
              <a:rPr lang="en-US" u="sng" dirty="0" err="1"/>
              <a:t>suficient</a:t>
            </a:r>
            <a:r>
              <a:rPr lang="en-US" u="sng" dirty="0"/>
              <a:t> de </a:t>
            </a:r>
            <a:r>
              <a:rPr lang="en-US" u="sng" dirty="0" err="1"/>
              <a:t>departe</a:t>
            </a:r>
            <a:r>
              <a:rPr lang="en-US" dirty="0"/>
              <a:t> de start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Foloseste</a:t>
            </a:r>
            <a:r>
              <a:rPr lang="en-US" dirty="0"/>
              <a:t> BFS (Breadth-First Search)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calcula</a:t>
            </a:r>
            <a:r>
              <a:rPr lang="en-US" dirty="0"/>
              <a:t> </a:t>
            </a:r>
            <a:r>
              <a:rPr lang="en-US" dirty="0" err="1"/>
              <a:t>distanta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Alege</a:t>
            </a:r>
            <a:r>
              <a:rPr lang="en-US" dirty="0"/>
              <a:t> </a:t>
            </a:r>
            <a:r>
              <a:rPr lang="en-US" dirty="0" err="1"/>
              <a:t>aleator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pozitiile</a:t>
            </a:r>
            <a:r>
              <a:rPr lang="en-US" dirty="0"/>
              <a:t> </a:t>
            </a:r>
            <a:r>
              <a:rPr lang="en-US" dirty="0" err="1"/>
              <a:t>valide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82A7AC-FD66-7FC1-508B-541981720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8" y="166250"/>
            <a:ext cx="5791678" cy="650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924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00675" cy="1472974"/>
          </a:xfrm>
          <a:noFill/>
        </p:spPr>
        <p:txBody>
          <a:bodyPr anchor="ctr"/>
          <a:lstStyle/>
          <a:p>
            <a:r>
              <a:rPr lang="en-US" sz="4000" dirty="0" err="1"/>
              <a:t>Vizualizarea</a:t>
            </a:r>
            <a:r>
              <a:rPr lang="en-US" sz="4000" dirty="0"/>
              <a:t> </a:t>
            </a:r>
            <a:r>
              <a:rPr lang="en-US" sz="4000" dirty="0" err="1"/>
              <a:t>Labirintului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" y="1609499"/>
            <a:ext cx="4486275" cy="4284889"/>
          </a:xfrm>
          <a:noFill/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Deseneaza </a:t>
            </a:r>
            <a:r>
              <a:rPr lang="en-US" dirty="0" err="1"/>
              <a:t>labirintul</a:t>
            </a:r>
            <a:r>
              <a:rPr lang="en-US" dirty="0"/>
              <a:t> pe </a:t>
            </a:r>
            <a:r>
              <a:rPr lang="en-US" dirty="0" err="1"/>
              <a:t>ecran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b="1" dirty="0" err="1"/>
              <a:t>Tkinter</a:t>
            </a:r>
            <a:endParaRPr lang="en-US" b="1" dirty="0"/>
          </a:p>
          <a:p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celula</a:t>
            </a:r>
            <a:r>
              <a:rPr lang="en-US" dirty="0"/>
              <a:t>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reprezentata</a:t>
            </a:r>
            <a:r>
              <a:rPr lang="en-US" dirty="0"/>
              <a:t> </a:t>
            </a:r>
            <a:r>
              <a:rPr lang="en-US" dirty="0" err="1"/>
              <a:t>printr</a:t>
            </a:r>
            <a:r>
              <a:rPr lang="en-US" dirty="0"/>
              <a:t>-un </a:t>
            </a:r>
            <a:r>
              <a:rPr lang="en-US" dirty="0" err="1"/>
              <a:t>patrat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Semnificatia</a:t>
            </a:r>
            <a:r>
              <a:rPr lang="en-US" b="1" dirty="0"/>
              <a:t> </a:t>
            </a:r>
            <a:r>
              <a:rPr lang="en-US" b="1" dirty="0" err="1"/>
              <a:t>culorilor</a:t>
            </a:r>
            <a:endParaRPr lang="en-US" b="1" dirty="0"/>
          </a:p>
          <a:p>
            <a:r>
              <a:rPr lang="en-US" dirty="0"/>
              <a:t>Negru = </a:t>
            </a:r>
            <a:r>
              <a:rPr lang="en-US" dirty="0" err="1"/>
              <a:t>perete</a:t>
            </a:r>
            <a:endParaRPr lang="en-US" dirty="0"/>
          </a:p>
          <a:p>
            <a:r>
              <a:rPr lang="en-US" dirty="0"/>
              <a:t>Alb = drum liber</a:t>
            </a:r>
          </a:p>
          <a:p>
            <a:r>
              <a:rPr lang="en-US" dirty="0" err="1"/>
              <a:t>Albastru</a:t>
            </a:r>
            <a:r>
              <a:rPr lang="en-US" dirty="0"/>
              <a:t> = </a:t>
            </a:r>
            <a:r>
              <a:rPr lang="en-US" dirty="0" err="1"/>
              <a:t>traseul</a:t>
            </a:r>
            <a:r>
              <a:rPr lang="en-US" dirty="0"/>
              <a:t> current, </a:t>
            </a:r>
            <a:r>
              <a:rPr lang="en-US" dirty="0" err="1"/>
              <a:t>Albastru</a:t>
            </a:r>
            <a:r>
              <a:rPr lang="en-US" dirty="0"/>
              <a:t> </a:t>
            </a:r>
            <a:r>
              <a:rPr lang="en-US" dirty="0" err="1"/>
              <a:t>Deschis</a:t>
            </a:r>
            <a:r>
              <a:rPr lang="en-US" dirty="0"/>
              <a:t> = </a:t>
            </a:r>
            <a:r>
              <a:rPr lang="en-US" dirty="0" err="1"/>
              <a:t>Vizitat</a:t>
            </a:r>
            <a:r>
              <a:rPr lang="en-US" dirty="0"/>
              <a:t> </a:t>
            </a:r>
            <a:r>
              <a:rPr lang="en-US" dirty="0" err="1"/>
              <a:t>inainte</a:t>
            </a:r>
            <a:endParaRPr lang="en-US" dirty="0"/>
          </a:p>
          <a:p>
            <a:r>
              <a:rPr lang="en-US" dirty="0"/>
              <a:t>Verde = start</a:t>
            </a:r>
          </a:p>
          <a:p>
            <a:r>
              <a:rPr lang="en-US" dirty="0"/>
              <a:t>Rosu = </a:t>
            </a:r>
            <a:r>
              <a:rPr lang="en-US" dirty="0" err="1"/>
              <a:t>obiectiv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3AC87A-D8A5-C7D9-AA65-A28B4532DC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675" y="0"/>
            <a:ext cx="67913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15" y="123825"/>
            <a:ext cx="3820956" cy="2157648"/>
          </a:xfrm>
          <a:noFill/>
        </p:spPr>
        <p:txBody>
          <a:bodyPr anchor="ctr"/>
          <a:lstStyle/>
          <a:p>
            <a:r>
              <a:rPr lang="en-US" dirty="0" err="1"/>
              <a:t>Rezolvarea</a:t>
            </a:r>
            <a:r>
              <a:rPr lang="en-US" dirty="0"/>
              <a:t> </a:t>
            </a:r>
            <a:r>
              <a:rPr lang="en-US" dirty="0" err="1"/>
              <a:t>Labirintului</a:t>
            </a:r>
            <a:r>
              <a:rPr lang="en-US" dirty="0"/>
              <a:t> (DFS)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A1CABC5-D189-1E7E-3DCA-5636417609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147" y="2436813"/>
            <a:ext cx="4532785" cy="4297362"/>
          </a:xfrm>
          <a:prstGeom prst="rect">
            <a:avLst/>
          </a:prstGeom>
          <a:noFill/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239BD54-37C5-BB9B-B92C-CA6CEE5DD78F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15" y="2436813"/>
            <a:ext cx="4532785" cy="4297362"/>
          </a:xfrm>
          <a:prstGeom prst="rect">
            <a:avLst/>
          </a:prstGeom>
          <a:noFill/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057509-CC60-8628-AA7E-0DA95B6EC141}"/>
              </a:ext>
            </a:extLst>
          </p:cNvPr>
          <p:cNvSpPr txBox="1"/>
          <p:nvPr/>
        </p:nvSpPr>
        <p:spPr>
          <a:xfrm>
            <a:off x="2879004" y="123825"/>
            <a:ext cx="75095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Foloseste</a:t>
            </a:r>
            <a:r>
              <a:rPr lang="en-US" dirty="0"/>
              <a:t> DFS (Depth-First Search),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allege un drum il </a:t>
            </a:r>
            <a:r>
              <a:rPr lang="en-US" dirty="0" err="1"/>
              <a:t>exploreaza</a:t>
            </a:r>
            <a:r>
              <a:rPr lang="en-US" dirty="0"/>
              <a:t> </a:t>
            </a:r>
            <a:r>
              <a:rPr lang="en-US" dirty="0" err="1"/>
              <a:t>pana</a:t>
            </a:r>
            <a:r>
              <a:rPr lang="en-US" dirty="0"/>
              <a:t> la </a:t>
            </a:r>
            <a:r>
              <a:rPr lang="en-US" dirty="0" err="1"/>
              <a:t>capat</a:t>
            </a:r>
            <a:r>
              <a:rPr lang="en-US" dirty="0"/>
              <a:t>,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ajunge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“dead end” </a:t>
            </a:r>
            <a:r>
              <a:rPr lang="en-US" dirty="0" err="1"/>
              <a:t>revine</a:t>
            </a:r>
            <a:r>
              <a:rPr lang="en-US" dirty="0"/>
              <a:t> </a:t>
            </a:r>
            <a:r>
              <a:rPr lang="en-US" dirty="0" err="1"/>
              <a:t>inapoi</a:t>
            </a:r>
            <a:r>
              <a:rPr lang="en-US" dirty="0"/>
              <a:t> (backtracking)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07369F-6004-25D2-8DF1-E98F68217C32}"/>
              </a:ext>
            </a:extLst>
          </p:cNvPr>
          <p:cNvSpPr txBox="1"/>
          <p:nvPr/>
        </p:nvSpPr>
        <p:spPr>
          <a:xfrm>
            <a:off x="2879004" y="1202649"/>
            <a:ext cx="73242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Stack = </a:t>
            </a:r>
            <a:r>
              <a:rPr lang="en-US" dirty="0" err="1"/>
              <a:t>retine</a:t>
            </a:r>
            <a:r>
              <a:rPr lang="en-US" dirty="0"/>
              <a:t> </a:t>
            </a:r>
            <a:r>
              <a:rPr lang="en-US" dirty="0" err="1"/>
              <a:t>pozitiile</a:t>
            </a:r>
            <a:r>
              <a:rPr lang="en-US" dirty="0"/>
              <a:t> </a:t>
            </a:r>
            <a:r>
              <a:rPr lang="en-US" dirty="0" err="1"/>
              <a:t>vizitate</a:t>
            </a:r>
            <a:endParaRPr lang="en-US" dirty="0"/>
          </a:p>
          <a:p>
            <a:r>
              <a:rPr lang="en-US" dirty="0"/>
              <a:t>Visited = Evita </a:t>
            </a:r>
            <a:r>
              <a:rPr lang="en-US" dirty="0" err="1"/>
              <a:t>repetarea</a:t>
            </a:r>
            <a:r>
              <a:rPr lang="en-US" dirty="0"/>
              <a:t> (nu merge in </a:t>
            </a:r>
            <a:r>
              <a:rPr lang="en-US" dirty="0" err="1"/>
              <a:t>aceeasi</a:t>
            </a:r>
            <a:r>
              <a:rPr lang="en-US" dirty="0"/>
              <a:t> </a:t>
            </a:r>
            <a:r>
              <a:rPr lang="en-US" dirty="0" err="1"/>
              <a:t>directie</a:t>
            </a:r>
            <a:r>
              <a:rPr lang="en-US" dirty="0"/>
              <a:t> a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oara</a:t>
            </a:r>
            <a:r>
              <a:rPr lang="en-US" dirty="0"/>
              <a:t>)</a:t>
            </a:r>
          </a:p>
          <a:p>
            <a:r>
              <a:rPr lang="en-US" dirty="0"/>
              <a:t>Path = </a:t>
            </a:r>
            <a:r>
              <a:rPr lang="en-US" dirty="0" err="1"/>
              <a:t>traseul</a:t>
            </a:r>
            <a:r>
              <a:rPr lang="en-US" dirty="0"/>
              <a:t> </a:t>
            </a:r>
            <a:r>
              <a:rPr lang="en-US" dirty="0" err="1"/>
              <a:t>curent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019392" cy="1325563"/>
          </a:xfrm>
          <a:noFill/>
        </p:spPr>
        <p:txBody>
          <a:bodyPr anchor="ctr"/>
          <a:lstStyle/>
          <a:p>
            <a:r>
              <a:rPr lang="en-US" dirty="0" err="1"/>
              <a:t>Interfata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15163" cy="4297680"/>
          </a:xfrm>
          <a:noFill/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Creeaza</a:t>
            </a:r>
            <a:r>
              <a:rPr lang="en-US" dirty="0"/>
              <a:t> o </a:t>
            </a:r>
            <a:r>
              <a:rPr lang="en-US" dirty="0" err="1"/>
              <a:t>fereastra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Tkinter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Afiseaza </a:t>
            </a:r>
            <a:r>
              <a:rPr lang="en-US" dirty="0" err="1"/>
              <a:t>labirintul</a:t>
            </a:r>
            <a:r>
              <a:rPr lang="en-US" dirty="0"/>
              <a:t> pe canvas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Ruleaza</a:t>
            </a:r>
            <a:r>
              <a:rPr lang="en-US" dirty="0"/>
              <a:t> </a:t>
            </a:r>
            <a:r>
              <a:rPr lang="en-US" dirty="0" err="1"/>
              <a:t>algoritmul</a:t>
            </a:r>
            <a:r>
              <a:rPr lang="en-US" dirty="0"/>
              <a:t> de </a:t>
            </a:r>
            <a:r>
              <a:rPr lang="en-US" dirty="0" err="1"/>
              <a:t>rezolvare</a:t>
            </a:r>
            <a:endParaRPr lang="en-US" dirty="0"/>
          </a:p>
          <a:p>
            <a:r>
              <a:rPr lang="en-US" b="1" dirty="0"/>
              <a:t>Cum </a:t>
            </a:r>
            <a:r>
              <a:rPr lang="en-US" b="1" dirty="0" err="1"/>
              <a:t>functioneaza</a:t>
            </a:r>
            <a:r>
              <a:rPr lang="en-US" b="1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Genereaza</a:t>
            </a:r>
            <a:r>
              <a:rPr lang="en-US" dirty="0"/>
              <a:t> </a:t>
            </a:r>
            <a:r>
              <a:rPr lang="en-US" dirty="0" err="1"/>
              <a:t>Labirintul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Alege</a:t>
            </a:r>
            <a:r>
              <a:rPr lang="en-US" dirty="0"/>
              <a:t> </a:t>
            </a:r>
            <a:r>
              <a:rPr lang="en-US" dirty="0" err="1"/>
              <a:t>inceputul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sfarsitul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Porneste</a:t>
            </a:r>
            <a:r>
              <a:rPr lang="en-US" dirty="0"/>
              <a:t> </a:t>
            </a:r>
            <a:r>
              <a:rPr lang="en-US" dirty="0" err="1"/>
              <a:t>animatia</a:t>
            </a:r>
            <a:r>
              <a:rPr lang="en-US" dirty="0"/>
              <a:t> </a:t>
            </a:r>
            <a:r>
              <a:rPr lang="en-US" dirty="0" err="1"/>
              <a:t>solverului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2EAA257-9F90-9119-FC5E-A6FA41E3FE9A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23661"/>
            <a:ext cx="6095999" cy="62106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27649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001" y="326601"/>
            <a:ext cx="4919803" cy="1325563"/>
          </a:xfrm>
          <a:noFill/>
        </p:spPr>
        <p:txBody>
          <a:bodyPr anchor="ctr"/>
          <a:lstStyle/>
          <a:p>
            <a:r>
              <a:rPr lang="en-US" dirty="0" err="1"/>
              <a:t>Imbunatatiri</a:t>
            </a:r>
            <a:r>
              <a:rPr lang="en-US" dirty="0"/>
              <a:t> </a:t>
            </a:r>
            <a:r>
              <a:rPr lang="en-US" dirty="0" err="1"/>
              <a:t>posibile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260002" y="1652164"/>
            <a:ext cx="4919804" cy="3596536"/>
          </a:xfrm>
          <a:noFill/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 dirty="0" err="1"/>
              <a:t>Interactivitate</a:t>
            </a:r>
            <a:endParaRPr lang="en-US" sz="2400" dirty="0"/>
          </a:p>
          <a:p>
            <a:pPr lvl="1"/>
            <a:r>
              <a:rPr lang="en-US" sz="2400" dirty="0"/>
              <a:t>Control manual al </a:t>
            </a:r>
            <a:r>
              <a:rPr lang="en-US" sz="2400" dirty="0" err="1"/>
              <a:t>utilizatorului</a:t>
            </a:r>
            <a:endParaRPr lang="en-US" sz="2400" dirty="0"/>
          </a:p>
          <a:p>
            <a:pPr lvl="1"/>
            <a:r>
              <a:rPr lang="en-US" sz="2400" dirty="0" err="1"/>
              <a:t>Alegerea</a:t>
            </a:r>
            <a:r>
              <a:rPr lang="en-US" sz="2400" dirty="0"/>
              <a:t> </a:t>
            </a:r>
            <a:r>
              <a:rPr lang="en-US" sz="2400" dirty="0" err="1"/>
              <a:t>dimensiunii</a:t>
            </a:r>
            <a:r>
              <a:rPr lang="en-US" sz="2400" dirty="0"/>
              <a:t> </a:t>
            </a:r>
            <a:r>
              <a:rPr lang="en-US" sz="2400" dirty="0" err="1"/>
              <a:t>labirintului</a:t>
            </a:r>
            <a:endParaRPr lang="en-US" sz="2400" dirty="0"/>
          </a:p>
          <a:p>
            <a:r>
              <a:rPr lang="en-US" sz="2400" dirty="0"/>
              <a:t>Control </a:t>
            </a:r>
            <a:r>
              <a:rPr lang="en-US" sz="2400" dirty="0" err="1"/>
              <a:t>Vizual</a:t>
            </a:r>
            <a:endParaRPr lang="en-US" sz="2400" dirty="0"/>
          </a:p>
          <a:p>
            <a:pPr lvl="1"/>
            <a:r>
              <a:rPr lang="en-US" sz="2400" dirty="0" err="1"/>
              <a:t>Reglarea</a:t>
            </a:r>
            <a:r>
              <a:rPr lang="en-US" sz="2400" dirty="0"/>
              <a:t> </a:t>
            </a:r>
            <a:r>
              <a:rPr lang="en-US" sz="2400" dirty="0" err="1"/>
              <a:t>vitezei</a:t>
            </a:r>
            <a:r>
              <a:rPr lang="en-US" sz="2400" dirty="0"/>
              <a:t> </a:t>
            </a:r>
            <a:r>
              <a:rPr lang="en-US" sz="2400" dirty="0" err="1"/>
              <a:t>animatiei</a:t>
            </a:r>
            <a:endParaRPr lang="en-US" sz="2400" dirty="0"/>
          </a:p>
          <a:p>
            <a:pPr lvl="1"/>
            <a:r>
              <a:rPr lang="en-US" sz="2400" dirty="0"/>
              <a:t>Buton de “Pauza/Restart”</a:t>
            </a:r>
          </a:p>
          <a:p>
            <a:pPr lvl="1"/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18818" y="6704969"/>
            <a:ext cx="73182" cy="153031"/>
          </a:xfrm>
          <a:noFill/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13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  <a:noFill/>
        </p:spPr>
        <p:txBody>
          <a:bodyPr/>
          <a:lstStyle/>
          <a:p>
            <a:r>
              <a:rPr lang="en-US" dirty="0" err="1"/>
              <a:t>Multumesc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atentie</a:t>
            </a:r>
            <a:r>
              <a:rPr lang="en-US" dirty="0"/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127" y="6400800"/>
            <a:ext cx="180164" cy="58705"/>
          </a:xfrm>
          <a:noFill/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48483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78504181">
      <a:dk1>
        <a:srgbClr val="000000"/>
      </a:dk1>
      <a:lt1>
        <a:srgbClr val="FFFFFF"/>
      </a:lt1>
      <a:dk2>
        <a:srgbClr val="FFF8F4"/>
      </a:dk2>
      <a:lt2>
        <a:srgbClr val="E8E8E8"/>
      </a:lt2>
      <a:accent1>
        <a:srgbClr val="EE7660"/>
      </a:accent1>
      <a:accent2>
        <a:srgbClr val="4D90EF"/>
      </a:accent2>
      <a:accent3>
        <a:srgbClr val="5B5160"/>
      </a:accent3>
      <a:accent4>
        <a:srgbClr val="2BC2B4"/>
      </a:accent4>
      <a:accent5>
        <a:srgbClr val="C097F8"/>
      </a:accent5>
      <a:accent6>
        <a:srgbClr val="FF9413"/>
      </a:accent6>
      <a:hlink>
        <a:srgbClr val="467886"/>
      </a:hlink>
      <a:folHlink>
        <a:srgbClr val="96607D"/>
      </a:folHlink>
    </a:clrScheme>
    <a:fontScheme name="Custom 49">
      <a:majorFont>
        <a:latin typeface="Tw Cen MT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04181_Win32_SL_V11" id="{D9600F65-346D-4C25-A611-673E5C44A142}" vid="{299F2556-E258-444F-A1E6-FA759CE228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30005B-6102-4F3C-A26F-485DF1BF971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E60708A-6461-4D7F-883F-7E25D731D3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C90B52-91C7-4BE9-8AE0-180FFFE110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{59DBA342-BFF9-47EA-B109-438A055CC3B3}TFab1f0ecd-b87c-476f-be30-2c815ce1b1f82585027f_win32-74124434413c</Template>
  <TotalTime>50</TotalTime>
  <Words>262</Words>
  <Application>Microsoft Office PowerPoint</Application>
  <PresentationFormat>Widescreen</PresentationFormat>
  <Paragraphs>64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Avenir Next LT Pro</vt:lpstr>
      <vt:lpstr>Avenir Next LT Pro Light</vt:lpstr>
      <vt:lpstr>Calibri</vt:lpstr>
      <vt:lpstr>Tw Cen MT</vt:lpstr>
      <vt:lpstr>Custom</vt:lpstr>
      <vt:lpstr>Lapusan Vlad</vt:lpstr>
      <vt:lpstr>PowerPoint Presentation</vt:lpstr>
      <vt:lpstr>Alegerea Obiectivului</vt:lpstr>
      <vt:lpstr>Vizualizarea Labirintului</vt:lpstr>
      <vt:lpstr>Rezolvarea Labirintului (DFS)</vt:lpstr>
      <vt:lpstr>Interfata</vt:lpstr>
      <vt:lpstr>Imbunatatiri posibile</vt:lpstr>
      <vt:lpstr>Multumesc pentru atentie!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Dunkle .</dc:creator>
  <cp:lastModifiedBy>Dunkle .</cp:lastModifiedBy>
  <cp:revision>1</cp:revision>
  <dcterms:created xsi:type="dcterms:W3CDTF">2026-05-04T08:03:15Z</dcterms:created>
  <dcterms:modified xsi:type="dcterms:W3CDTF">2026-05-04T08:53:53Z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